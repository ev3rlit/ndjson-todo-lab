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6" r:id="rId3"/>
    <p:sldId id="287" r:id="rId4"/>
    <p:sldId id="260" r:id="rId5"/>
    <p:sldId id="289" r:id="rId6"/>
    <p:sldId id="290" r:id="rId7"/>
    <p:sldId id="265" r:id="rId8"/>
    <p:sldId id="291" r:id="rId9"/>
    <p:sldId id="292" r:id="rId10"/>
    <p:sldId id="263" r:id="rId11"/>
    <p:sldId id="288" r:id="rId12"/>
    <p:sldId id="29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302" userDrawn="1">
          <p15:clr>
            <a:srgbClr val="A4A3A4"/>
          </p15:clr>
        </p15:guide>
        <p15:guide id="3" pos="7378" userDrawn="1">
          <p15:clr>
            <a:srgbClr val="A4A3A4"/>
          </p15:clr>
        </p15:guide>
        <p15:guide id="4" orient="horz" pos="4042" userDrawn="1">
          <p15:clr>
            <a:srgbClr val="A4A3A4"/>
          </p15:clr>
        </p15:guide>
        <p15:guide id="5" orient="horz" pos="5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43BE"/>
    <a:srgbClr val="3366FF"/>
    <a:srgbClr val="FF3300"/>
    <a:srgbClr val="204BD6"/>
    <a:srgbClr val="2D59DF"/>
    <a:srgbClr val="666666"/>
    <a:srgbClr val="B8B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59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490" y="307"/>
      </p:cViewPr>
      <p:guideLst>
        <p:guide orient="horz" pos="278"/>
        <p:guide pos="302"/>
        <p:guide pos="7378"/>
        <p:guide orient="horz" pos="4042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E54E3E-1E68-4117-AB3F-334EE3C57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9A05-6180-4156-9F6E-06287DE939E2}" type="datetimeFigureOut">
              <a:rPr lang="ko-KR" altLang="en-US" smtClean="0"/>
              <a:t>2021-09-08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E64BCD-2685-4EFB-BC1E-8CD0BA774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0A181-C1AD-4253-83EB-EDACDA7A6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C7D7-DAA4-40AC-931C-80BBA5EA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45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DADCF35-3502-4798-9F9B-918A00C20890}"/>
              </a:ext>
            </a:extLst>
          </p:cNvPr>
          <p:cNvSpPr/>
          <p:nvPr userDrawn="1"/>
        </p:nvSpPr>
        <p:spPr>
          <a:xfrm>
            <a:off x="-12291" y="0"/>
            <a:ext cx="12204291" cy="6858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9CB9A-9DFA-47D3-B493-322C1044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9A05-6180-4156-9F6E-06287DE939E2}" type="datetimeFigureOut">
              <a:rPr lang="ko-KR" altLang="en-US" smtClean="0"/>
              <a:t>2021-09-08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D3203A-A9AA-492A-AF8A-01F70B1B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515C2A-63AE-4D87-A5F4-7FCBF694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C7D7-DAA4-40AC-931C-80BBA5EA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63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DADCF35-3502-4798-9F9B-918A00C20890}"/>
              </a:ext>
            </a:extLst>
          </p:cNvPr>
          <p:cNvSpPr/>
          <p:nvPr userDrawn="1"/>
        </p:nvSpPr>
        <p:spPr>
          <a:xfrm>
            <a:off x="-12291" y="0"/>
            <a:ext cx="12204291" cy="6858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B66EDC-5E2E-4D5C-9E61-47F674F23493}"/>
              </a:ext>
            </a:extLst>
          </p:cNvPr>
          <p:cNvSpPr/>
          <p:nvPr userDrawn="1"/>
        </p:nvSpPr>
        <p:spPr>
          <a:xfrm>
            <a:off x="0" y="1388961"/>
            <a:ext cx="12192000" cy="5469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9CB9A-9DFA-47D3-B493-322C1044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9A05-6180-4156-9F6E-06287DE939E2}" type="datetimeFigureOut">
              <a:rPr lang="ko-KR" altLang="en-US" smtClean="0"/>
              <a:t>2021-09-08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D3203A-A9AA-492A-AF8A-01F70B1B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515C2A-63AE-4D87-A5F4-7FCBF694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C7D7-DAA4-40AC-931C-80BBA5EA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211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E15E559-814E-42EE-B57F-B16F230EE1A8}"/>
              </a:ext>
            </a:extLst>
          </p:cNvPr>
          <p:cNvSpPr/>
          <p:nvPr userDrawn="1"/>
        </p:nvSpPr>
        <p:spPr>
          <a:xfrm>
            <a:off x="-12291" y="0"/>
            <a:ext cx="12204291" cy="441323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9CB9A-9DFA-47D3-B493-322C1044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9A05-6180-4156-9F6E-06287DE939E2}" type="datetimeFigureOut">
              <a:rPr lang="ko-KR" altLang="en-US" smtClean="0"/>
              <a:t>2021-09-08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D3203A-A9AA-492A-AF8A-01F70B1B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515C2A-63AE-4D87-A5F4-7FCBF694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C7D7-DAA4-40AC-931C-80BBA5EA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124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9503B2-17F3-4AA8-932D-B31C067A2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19A05-6180-4156-9F6E-06287DE939E2}" type="datetimeFigureOut">
              <a:rPr lang="ko-KR" altLang="en-US" smtClean="0"/>
              <a:t>2021-09-08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023C95-5824-4291-AAB8-77B41CEB9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C747EB-50ED-44FD-BB4D-D9701951D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5C7D7-DAA4-40AC-931C-80BBA5EA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63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71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813DA8-5978-41B8-92C5-8648D224A092}"/>
              </a:ext>
            </a:extLst>
          </p:cNvPr>
          <p:cNvSpPr txBox="1"/>
          <p:nvPr/>
        </p:nvSpPr>
        <p:spPr>
          <a:xfrm>
            <a:off x="3396567" y="2352195"/>
            <a:ext cx="5398867" cy="10768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Brand</a:t>
            </a:r>
            <a:endParaRPr lang="ko-KR" altLang="en-US" sz="10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0" dist="381000" dir="2700000" algn="tl" rotWithShape="0">
                  <a:prstClr val="black">
                    <a:alpha val="20000"/>
                  </a:prstClr>
                </a:outerShdw>
              </a:effectLst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A4420-8BD2-4399-BA5C-8C87CBAB390A}"/>
              </a:ext>
            </a:extLst>
          </p:cNvPr>
          <p:cNvSpPr txBox="1"/>
          <p:nvPr/>
        </p:nvSpPr>
        <p:spPr>
          <a:xfrm>
            <a:off x="3674282" y="3901362"/>
            <a:ext cx="4843436" cy="540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Noto Sans KR Black" panose="020B0A00000000000000" pitchFamily="34" charset="-127"/>
                <a:ea typeface="Noto Sans KR Black" panose="020B0A00000000000000" pitchFamily="34" charset="-127"/>
              </a:rPr>
              <a:t>팔리는 브랜드</a:t>
            </a:r>
            <a:r>
              <a:rPr lang="en-US" altLang="ko-KR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Noto Sans KR Black" panose="020B0A00000000000000" pitchFamily="34" charset="-127"/>
                <a:ea typeface="Noto Sans KR Black" panose="020B0A00000000000000" pitchFamily="34" charset="-127"/>
              </a:rPr>
              <a:t> </a:t>
            </a: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Noto Sans KR Black" panose="020B0A00000000000000" pitchFamily="34" charset="-127"/>
                <a:ea typeface="Noto Sans KR Black" panose="020B0A00000000000000" pitchFamily="34" charset="-127"/>
              </a:rPr>
              <a:t>경험 설계하기</a:t>
            </a:r>
            <a:endParaRPr lang="en-US" altLang="ko-KR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0" dist="381000" dir="2700000" algn="tl" rotWithShape="0">
                  <a:prstClr val="black">
                    <a:alpha val="20000"/>
                  </a:prstClr>
                </a:outerShdw>
              </a:effectLst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6181B87-3531-4DA3-90B0-AB37FDA953C1}"/>
              </a:ext>
            </a:extLst>
          </p:cNvPr>
          <p:cNvCxnSpPr>
            <a:cxnSpLocks/>
          </p:cNvCxnSpPr>
          <p:nvPr/>
        </p:nvCxnSpPr>
        <p:spPr>
          <a:xfrm>
            <a:off x="3924300" y="3736050"/>
            <a:ext cx="44196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315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813DA8-5978-41B8-92C5-8648D224A092}"/>
              </a:ext>
            </a:extLst>
          </p:cNvPr>
          <p:cNvSpPr txBox="1"/>
          <p:nvPr/>
        </p:nvSpPr>
        <p:spPr>
          <a:xfrm>
            <a:off x="364279" y="5223417"/>
            <a:ext cx="8872319" cy="10764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10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Marketer</a:t>
            </a:r>
            <a:endParaRPr lang="ko-KR" altLang="en-US" sz="10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0" dist="381000" dir="2700000" algn="tl" rotWithShape="0">
                  <a:prstClr val="black">
                    <a:alpha val="20000"/>
                  </a:prstClr>
                </a:outerShdw>
              </a:effectLst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A4420-8BD2-4399-BA5C-8C87CBAB390A}"/>
              </a:ext>
            </a:extLst>
          </p:cNvPr>
          <p:cNvSpPr txBox="1"/>
          <p:nvPr/>
        </p:nvSpPr>
        <p:spPr>
          <a:xfrm>
            <a:off x="210655" y="743403"/>
            <a:ext cx="4802730" cy="540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Noto Sans KR Black" panose="020B0A00000000000000" pitchFamily="34" charset="-127"/>
                <a:ea typeface="Noto Sans KR Black" panose="020B0A00000000000000" pitchFamily="34" charset="-127"/>
              </a:rPr>
              <a:t>퍼포먼스 마케터로 취업하기</a:t>
            </a:r>
            <a:endParaRPr lang="en-US" altLang="ko-KR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0" dist="381000" dir="2700000" algn="tl" rotWithShape="0">
                  <a:prstClr val="black">
                    <a:alpha val="20000"/>
                  </a:prstClr>
                </a:outerShdw>
              </a:effectLst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964F68A-3146-4CA2-A0A0-DFCAF0A9A718}"/>
              </a:ext>
            </a:extLst>
          </p:cNvPr>
          <p:cNvCxnSpPr>
            <a:cxnSpLocks/>
          </p:cNvCxnSpPr>
          <p:nvPr/>
        </p:nvCxnSpPr>
        <p:spPr>
          <a:xfrm>
            <a:off x="479425" y="3309716"/>
            <a:ext cx="112331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395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813DA8-5978-41B8-92C5-8648D224A092}"/>
              </a:ext>
            </a:extLst>
          </p:cNvPr>
          <p:cNvSpPr txBox="1"/>
          <p:nvPr/>
        </p:nvSpPr>
        <p:spPr>
          <a:xfrm>
            <a:off x="7237611" y="2890597"/>
            <a:ext cx="4474964" cy="10768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10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UI</a:t>
            </a:r>
            <a:r>
              <a:rPr lang="en-US" altLang="ko-KR" sz="10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C43BE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/</a:t>
            </a:r>
            <a:r>
              <a:rPr lang="en-US" altLang="ko-KR" sz="10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UX</a:t>
            </a:r>
            <a:endParaRPr lang="ko-KR" altLang="en-US" sz="10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0" dist="381000" dir="2700000" algn="tl" rotWithShape="0">
                  <a:prstClr val="black">
                    <a:alpha val="20000"/>
                  </a:prstClr>
                </a:outerShdw>
              </a:effectLst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A4420-8BD2-4399-BA5C-8C87CBAB390A}"/>
              </a:ext>
            </a:extLst>
          </p:cNvPr>
          <p:cNvSpPr txBox="1"/>
          <p:nvPr/>
        </p:nvSpPr>
        <p:spPr>
          <a:xfrm>
            <a:off x="490575" y="3200007"/>
            <a:ext cx="3552423" cy="52615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사용자 경험</a:t>
            </a:r>
            <a:r>
              <a:rPr lang="en-US" altLang="ko-KR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Noto Sans KR Black" panose="020B0A00000000000000" pitchFamily="34" charset="-127"/>
                <a:ea typeface="Noto Sans KR Black" panose="020B0A00000000000000" pitchFamily="34" charset="-127"/>
              </a:rPr>
              <a:t> </a:t>
            </a: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설계하기</a:t>
            </a:r>
            <a:endParaRPr lang="en-US" altLang="ko-KR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0" dist="381000" dir="2700000" algn="tl" rotWithShape="0">
                  <a:prstClr val="black">
                    <a:alpha val="20000"/>
                  </a:prstClr>
                </a:outerShdw>
              </a:effectLst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FF98A4B-411D-4428-B39F-5D0279518604}"/>
              </a:ext>
            </a:extLst>
          </p:cNvPr>
          <p:cNvCxnSpPr>
            <a:cxnSpLocks/>
          </p:cNvCxnSpPr>
          <p:nvPr/>
        </p:nvCxnSpPr>
        <p:spPr>
          <a:xfrm>
            <a:off x="490575" y="3946326"/>
            <a:ext cx="63979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81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1B05521-A446-40EC-9B70-F66C3BCED5C2}"/>
              </a:ext>
            </a:extLst>
          </p:cNvPr>
          <p:cNvSpPr txBox="1"/>
          <p:nvPr/>
        </p:nvSpPr>
        <p:spPr>
          <a:xfrm>
            <a:off x="362964" y="441325"/>
            <a:ext cx="4474964" cy="78732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4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contents</a:t>
            </a:r>
            <a:endParaRPr lang="ko-KR" altLang="en-US" sz="4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0" dist="381000" dir="2700000" algn="tl" rotWithShape="0">
                  <a:prstClr val="black">
                    <a:alpha val="20000"/>
                  </a:prstClr>
                </a:outerShdw>
              </a:effectLst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C15F50-DF42-40E5-9B62-B74BC6E718D0}"/>
              </a:ext>
            </a:extLst>
          </p:cNvPr>
          <p:cNvSpPr txBox="1"/>
          <p:nvPr/>
        </p:nvSpPr>
        <p:spPr>
          <a:xfrm>
            <a:off x="5706515" y="1839150"/>
            <a:ext cx="3663890" cy="58741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어떤 </a:t>
            </a: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상황</a:t>
            </a:r>
            <a:r>
              <a:rPr lang="en-US" altLang="ko-KR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 </a:t>
            </a: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이었습니까</a:t>
            </a:r>
            <a:r>
              <a:rPr lang="en-US" altLang="ko-KR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?</a:t>
            </a:r>
            <a:endParaRPr lang="ko-KR" altLang="en-US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8410CC-C780-4C02-8A4C-EA94E05CE45E}"/>
              </a:ext>
            </a:extLst>
          </p:cNvPr>
          <p:cNvSpPr txBox="1"/>
          <p:nvPr/>
        </p:nvSpPr>
        <p:spPr>
          <a:xfrm>
            <a:off x="362963" y="1747609"/>
            <a:ext cx="3016845" cy="531119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4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  <a:cs typeface="KoPubWorld돋움체 Light" panose="00000300000000000000" pitchFamily="2" charset="-127"/>
              </a:rPr>
              <a:t>situation</a:t>
            </a:r>
            <a:endParaRPr lang="ko-KR" altLang="en-US" sz="4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366FF"/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  <a:cs typeface="KoPubWorld돋움체 Light" panose="000003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7643F9-2307-4CDA-8629-92BBF79A45A8}"/>
              </a:ext>
            </a:extLst>
          </p:cNvPr>
          <p:cNvSpPr txBox="1"/>
          <p:nvPr/>
        </p:nvSpPr>
        <p:spPr>
          <a:xfrm>
            <a:off x="5706515" y="3159089"/>
            <a:ext cx="4112870" cy="58741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어떤 </a:t>
            </a: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과제</a:t>
            </a: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를</a:t>
            </a:r>
            <a:r>
              <a:rPr lang="en-US" altLang="ko-KR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 </a:t>
            </a: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맡았습니까</a:t>
            </a:r>
            <a:r>
              <a:rPr lang="en-US" altLang="ko-KR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?</a:t>
            </a:r>
            <a:endParaRPr lang="ko-KR" altLang="en-US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5BFB5B-3F14-4FCB-B6DD-D3022BECC162}"/>
              </a:ext>
            </a:extLst>
          </p:cNvPr>
          <p:cNvSpPr txBox="1"/>
          <p:nvPr/>
        </p:nvSpPr>
        <p:spPr>
          <a:xfrm>
            <a:off x="362963" y="3114663"/>
            <a:ext cx="2102444" cy="531119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4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  <a:cs typeface="KoPubWorld돋움체 Light" panose="00000300000000000000" pitchFamily="2" charset="-127"/>
              </a:rPr>
              <a:t>task</a:t>
            </a:r>
            <a:endParaRPr lang="ko-KR" altLang="en-US" sz="4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366FF"/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  <a:cs typeface="KoPubWorld돋움체 Light" panose="000003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47EB34-16D7-4E4C-8327-C15D7F22FC10}"/>
              </a:ext>
            </a:extLst>
          </p:cNvPr>
          <p:cNvSpPr txBox="1"/>
          <p:nvPr/>
        </p:nvSpPr>
        <p:spPr>
          <a:xfrm>
            <a:off x="5706515" y="4466422"/>
            <a:ext cx="4547703" cy="58741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어떤 </a:t>
            </a: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행동</a:t>
            </a: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을</a:t>
            </a:r>
            <a:r>
              <a:rPr lang="en-US" altLang="ko-KR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 </a:t>
            </a: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취했습니까</a:t>
            </a:r>
            <a:r>
              <a:rPr lang="en-US" altLang="ko-KR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?</a:t>
            </a:r>
            <a:endParaRPr lang="ko-KR" altLang="en-US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4E346A-40DA-4B86-8379-E8EE546A67FC}"/>
              </a:ext>
            </a:extLst>
          </p:cNvPr>
          <p:cNvSpPr txBox="1"/>
          <p:nvPr/>
        </p:nvSpPr>
        <p:spPr>
          <a:xfrm>
            <a:off x="362964" y="4434602"/>
            <a:ext cx="2855946" cy="531119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4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  <a:cs typeface="KoPubWorld돋움체 Light" panose="00000300000000000000" pitchFamily="2" charset="-127"/>
              </a:rPr>
              <a:t>action</a:t>
            </a:r>
            <a:endParaRPr lang="ko-KR" altLang="en-US" sz="4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366FF"/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  <a:cs typeface="KoPubWorld돋움체 Light" panose="000003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D23D79-D37E-463D-A584-5146B19BBD0C}"/>
              </a:ext>
            </a:extLst>
          </p:cNvPr>
          <p:cNvSpPr txBox="1"/>
          <p:nvPr/>
        </p:nvSpPr>
        <p:spPr>
          <a:xfrm>
            <a:off x="5706515" y="5754871"/>
            <a:ext cx="3671897" cy="58741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결과</a:t>
            </a: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는</a:t>
            </a:r>
            <a:r>
              <a:rPr lang="en-US" altLang="ko-KR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 </a:t>
            </a:r>
            <a:r>
              <a:rPr lang="ko-KR" altLang="en-US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어땠습니까</a:t>
            </a:r>
            <a:r>
              <a:rPr lang="en-US" altLang="ko-KR" sz="3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?</a:t>
            </a:r>
            <a:endParaRPr lang="ko-KR" altLang="en-US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54B3DB-6DDD-423C-82BE-94CCA817FFBB}"/>
              </a:ext>
            </a:extLst>
          </p:cNvPr>
          <p:cNvSpPr txBox="1"/>
          <p:nvPr/>
        </p:nvSpPr>
        <p:spPr>
          <a:xfrm>
            <a:off x="362963" y="5741935"/>
            <a:ext cx="2692752" cy="531119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4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  <a:cs typeface="KoPubWorld돋움체 Light" panose="00000300000000000000" pitchFamily="2" charset="-127"/>
              </a:rPr>
              <a:t>result</a:t>
            </a:r>
            <a:endParaRPr lang="ko-KR" altLang="en-US" sz="4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366FF"/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  <a:cs typeface="KoPubWorld돋움체 Light" panose="00000300000000000000" pitchFamily="2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4CC9247-2C34-41C7-83C5-4733D0E3F6C1}"/>
              </a:ext>
            </a:extLst>
          </p:cNvPr>
          <p:cNvCxnSpPr>
            <a:cxnSpLocks/>
          </p:cNvCxnSpPr>
          <p:nvPr/>
        </p:nvCxnSpPr>
        <p:spPr>
          <a:xfrm>
            <a:off x="490575" y="2770614"/>
            <a:ext cx="11222000" cy="0"/>
          </a:xfrm>
          <a:prstGeom prst="line">
            <a:avLst/>
          </a:prstGeom>
          <a:ln w="25400">
            <a:solidFill>
              <a:srgbClr val="33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ED967BB-C1BE-4118-8F23-2A60B5250676}"/>
              </a:ext>
            </a:extLst>
          </p:cNvPr>
          <p:cNvCxnSpPr>
            <a:cxnSpLocks/>
          </p:cNvCxnSpPr>
          <p:nvPr/>
        </p:nvCxnSpPr>
        <p:spPr>
          <a:xfrm>
            <a:off x="490575" y="4090553"/>
            <a:ext cx="11222000" cy="0"/>
          </a:xfrm>
          <a:prstGeom prst="line">
            <a:avLst/>
          </a:prstGeom>
          <a:ln w="25400">
            <a:solidFill>
              <a:srgbClr val="33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3C7F7D3-45CE-4D69-BE54-30DD657A2941}"/>
              </a:ext>
            </a:extLst>
          </p:cNvPr>
          <p:cNvCxnSpPr>
            <a:cxnSpLocks/>
          </p:cNvCxnSpPr>
          <p:nvPr/>
        </p:nvCxnSpPr>
        <p:spPr>
          <a:xfrm>
            <a:off x="490575" y="5397886"/>
            <a:ext cx="11222000" cy="0"/>
          </a:xfrm>
          <a:prstGeom prst="line">
            <a:avLst/>
          </a:prstGeom>
          <a:ln w="25400">
            <a:solidFill>
              <a:srgbClr val="33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787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1D2B3C0-6F1A-4D9C-8812-7FE3A157F887}"/>
              </a:ext>
            </a:extLst>
          </p:cNvPr>
          <p:cNvSpPr/>
          <p:nvPr/>
        </p:nvSpPr>
        <p:spPr>
          <a:xfrm>
            <a:off x="3634242" y="1"/>
            <a:ext cx="4923516" cy="53774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13DA8-5978-41B8-92C5-8648D224A092}"/>
              </a:ext>
            </a:extLst>
          </p:cNvPr>
          <p:cNvSpPr txBox="1"/>
          <p:nvPr/>
        </p:nvSpPr>
        <p:spPr>
          <a:xfrm>
            <a:off x="4419864" y="712251"/>
            <a:ext cx="3352272" cy="66861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3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Situation</a:t>
            </a:r>
            <a:endParaRPr lang="ko-KR" altLang="en-US" sz="3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366FF"/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A4420-8BD2-4399-BA5C-8C87CBAB390A}"/>
              </a:ext>
            </a:extLst>
          </p:cNvPr>
          <p:cNvSpPr txBox="1"/>
          <p:nvPr/>
        </p:nvSpPr>
        <p:spPr>
          <a:xfrm>
            <a:off x="4441934" y="2667736"/>
            <a:ext cx="3308132" cy="205064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4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어떤 상황</a:t>
            </a:r>
            <a:endParaRPr lang="en-US" altLang="ko-KR" sz="4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4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이었습니까</a:t>
            </a:r>
            <a:r>
              <a:rPr lang="en-US" altLang="ko-KR" sz="4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?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6181B87-3531-4DA3-90B0-AB37FDA953C1}"/>
              </a:ext>
            </a:extLst>
          </p:cNvPr>
          <p:cNvCxnSpPr>
            <a:cxnSpLocks/>
          </p:cNvCxnSpPr>
          <p:nvPr/>
        </p:nvCxnSpPr>
        <p:spPr>
          <a:xfrm>
            <a:off x="4807974" y="1480530"/>
            <a:ext cx="2576052" cy="0"/>
          </a:xfrm>
          <a:prstGeom prst="line">
            <a:avLst/>
          </a:prstGeom>
          <a:ln w="127000">
            <a:solidFill>
              <a:srgbClr val="33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29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3A4420-8BD2-4399-BA5C-8C87CBAB390A}"/>
              </a:ext>
            </a:extLst>
          </p:cNvPr>
          <p:cNvSpPr txBox="1"/>
          <p:nvPr/>
        </p:nvSpPr>
        <p:spPr>
          <a:xfrm>
            <a:off x="2243362" y="2663401"/>
            <a:ext cx="9087248" cy="2880000"/>
          </a:xfrm>
          <a:prstGeom prst="rect">
            <a:avLst/>
          </a:prstGeom>
          <a:solidFill>
            <a:srgbClr val="3366FF"/>
          </a:solidFill>
          <a:ln>
            <a:solidFill>
              <a:schemeClr val="accent1"/>
            </a:solidFill>
          </a:ln>
          <a:effectLst>
            <a:outerShdw blurRad="381000" dist="381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3500">
                <a:ln>
                  <a:solidFill>
                    <a:srgbClr val="3366FF">
                      <a:alpha val="0"/>
                    </a:srgb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어떤 </a:t>
            </a:r>
            <a:r>
              <a:rPr lang="ko-KR" altLang="en-US"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과제를 맡았습니까</a:t>
            </a:r>
            <a:r>
              <a:rPr lang="en-US" altLang="ko-KR" dirty="0"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13DA8-5978-41B8-92C5-8648D224A092}"/>
              </a:ext>
            </a:extLst>
          </p:cNvPr>
          <p:cNvSpPr txBox="1"/>
          <p:nvPr/>
        </p:nvSpPr>
        <p:spPr>
          <a:xfrm rot="20700000">
            <a:off x="850633" y="1516243"/>
            <a:ext cx="5081687" cy="15982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3500" dirty="0">
                <a:ln>
                  <a:solidFill>
                    <a:srgbClr val="3366FF">
                      <a:alpha val="0"/>
                    </a:srgb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Situation</a:t>
            </a:r>
            <a:endParaRPr lang="ko-KR" altLang="en-US" sz="3500" dirty="0">
              <a:ln>
                <a:solidFill>
                  <a:srgbClr val="3366FF">
                    <a:alpha val="0"/>
                  </a:srgbClr>
                </a:solidFill>
              </a:ln>
              <a:solidFill>
                <a:srgbClr val="3366FF"/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399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F6E861-75BB-4634-9972-E19118CC4ECF}"/>
              </a:ext>
            </a:extLst>
          </p:cNvPr>
          <p:cNvSpPr txBox="1"/>
          <p:nvPr/>
        </p:nvSpPr>
        <p:spPr>
          <a:xfrm>
            <a:off x="1731277" y="850673"/>
            <a:ext cx="8729446" cy="5797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디자인도 해야하는 활동가를 위한 디자인 강의</a:t>
            </a:r>
            <a:endParaRPr lang="en-US" altLang="ko-KR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37E720B-B2F1-4D2C-84A0-1AFD79A7292C}"/>
              </a:ext>
            </a:extLst>
          </p:cNvPr>
          <p:cNvGrpSpPr/>
          <p:nvPr/>
        </p:nvGrpSpPr>
        <p:grpSpPr>
          <a:xfrm>
            <a:off x="783444" y="2407009"/>
            <a:ext cx="2520000" cy="2984865"/>
            <a:chOff x="1040694" y="2129216"/>
            <a:chExt cx="2520000" cy="29848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64E52F-C4FA-4A67-A3EB-E7ADDF19AD48}"/>
                </a:ext>
              </a:extLst>
            </p:cNvPr>
            <p:cNvSpPr txBox="1"/>
            <p:nvPr/>
          </p:nvSpPr>
          <p:spPr>
            <a:xfrm>
              <a:off x="1155871" y="2129216"/>
              <a:ext cx="2289647" cy="55257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540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schemeClr val="bg2">
                          <a:lumMod val="90000"/>
                        </a:schemeClr>
                      </a:gs>
                      <a:gs pos="100000">
                        <a:schemeClr val="bg1">
                          <a:lumMod val="95000"/>
                        </a:schemeClr>
                      </a:gs>
                    </a:gsLst>
                    <a:lin ang="5400000" scaled="1"/>
                  </a:gradFill>
                  <a:latin typeface="창원단감아삭 Bold" panose="020B0803000000000000" pitchFamily="50" charset="-127"/>
                  <a:ea typeface="창원단감아삭 Bold" panose="020B0803000000000000" pitchFamily="50" charset="-127"/>
                </a:rPr>
                <a:t>way</a:t>
              </a:r>
              <a:endParaRPr lang="ko-KR" altLang="en-US" sz="54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atin typeface="창원단감아삭 Bold" panose="020B0803000000000000" pitchFamily="50" charset="-127"/>
                <a:ea typeface="창원단감아삭 Bold" panose="020B0803000000000000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4756CF6-D3ED-4B2B-9047-28CBDC02C770}"/>
                </a:ext>
              </a:extLst>
            </p:cNvPr>
            <p:cNvSpPr txBox="1"/>
            <p:nvPr/>
          </p:nvSpPr>
          <p:spPr>
            <a:xfrm>
              <a:off x="1040694" y="2594081"/>
              <a:ext cx="2520000" cy="2520000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ffectLst>
              <a:outerShdw blurRad="381000" dist="381000" dir="2700000" algn="tl" rotWithShape="0">
                <a:prstClr val="black">
                  <a:alpha val="15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20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방법론</a:t>
              </a:r>
              <a:endParaRPr lang="en-US" altLang="ko-KR" sz="2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556CC57-7E2E-4324-B1A6-AACFEEA6DC9D}"/>
              </a:ext>
            </a:extLst>
          </p:cNvPr>
          <p:cNvGrpSpPr/>
          <p:nvPr/>
        </p:nvGrpSpPr>
        <p:grpSpPr>
          <a:xfrm>
            <a:off x="4809102" y="2407009"/>
            <a:ext cx="2520000" cy="2984865"/>
            <a:chOff x="4836000" y="2129216"/>
            <a:chExt cx="2520000" cy="298486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BB04D7-4F7E-42EA-9960-227E8C67A2BF}"/>
                </a:ext>
              </a:extLst>
            </p:cNvPr>
            <p:cNvSpPr txBox="1"/>
            <p:nvPr/>
          </p:nvSpPr>
          <p:spPr>
            <a:xfrm>
              <a:off x="4924279" y="2129216"/>
              <a:ext cx="2289647" cy="55257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540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schemeClr val="bg2">
                          <a:lumMod val="90000"/>
                        </a:schemeClr>
                      </a:gs>
                      <a:gs pos="100000">
                        <a:schemeClr val="bg1">
                          <a:lumMod val="95000"/>
                        </a:schemeClr>
                      </a:gs>
                    </a:gsLst>
                    <a:lin ang="5400000" scaled="1"/>
                  </a:gradFill>
                  <a:latin typeface="창원단감아삭 Bold" panose="020B0803000000000000" pitchFamily="50" charset="-127"/>
                  <a:ea typeface="창원단감아삭 Bold" panose="020B0803000000000000" pitchFamily="50" charset="-127"/>
                </a:rPr>
                <a:t>tool</a:t>
              </a:r>
              <a:endParaRPr lang="ko-KR" altLang="en-US" sz="54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atin typeface="창원단감아삭 Bold" panose="020B0803000000000000" pitchFamily="50" charset="-127"/>
                <a:ea typeface="창원단감아삭 Bold" panose="020B0803000000000000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3754B6-53FE-4D64-8F7F-7F87FF81371A}"/>
                </a:ext>
              </a:extLst>
            </p:cNvPr>
            <p:cNvSpPr txBox="1"/>
            <p:nvPr/>
          </p:nvSpPr>
          <p:spPr>
            <a:xfrm>
              <a:off x="4836000" y="2594081"/>
              <a:ext cx="2520000" cy="2520000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ffectLst>
              <a:outerShdw blurRad="381000" dist="381000" dir="2700000" algn="tl" rotWithShape="0">
                <a:prstClr val="black">
                  <a:alpha val="15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20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도구</a:t>
              </a:r>
              <a:endParaRPr lang="ko-KR" altLang="en-US" sz="2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E36B83-922A-4928-947F-D64024C14A95}"/>
              </a:ext>
            </a:extLst>
          </p:cNvPr>
          <p:cNvGrpSpPr/>
          <p:nvPr/>
        </p:nvGrpSpPr>
        <p:grpSpPr>
          <a:xfrm>
            <a:off x="8834761" y="2407009"/>
            <a:ext cx="2520000" cy="2984865"/>
            <a:chOff x="8631306" y="2129216"/>
            <a:chExt cx="2520000" cy="298486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F881EC-D747-4AA2-9F0C-7239EB16C76A}"/>
                </a:ext>
              </a:extLst>
            </p:cNvPr>
            <p:cNvSpPr txBox="1"/>
            <p:nvPr/>
          </p:nvSpPr>
          <p:spPr>
            <a:xfrm>
              <a:off x="8719585" y="2129216"/>
              <a:ext cx="2289647" cy="55257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540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schemeClr val="bg2">
                          <a:lumMod val="90000"/>
                        </a:schemeClr>
                      </a:gs>
                      <a:gs pos="100000">
                        <a:schemeClr val="bg1">
                          <a:lumMod val="95000"/>
                        </a:schemeClr>
                      </a:gs>
                    </a:gsLst>
                    <a:lin ang="5400000" scaled="1"/>
                  </a:gradFill>
                  <a:latin typeface="창원단감아삭 Bold" panose="020B0803000000000000" pitchFamily="50" charset="-127"/>
                  <a:ea typeface="창원단감아삭 Bold" panose="020B0803000000000000" pitchFamily="50" charset="-127"/>
                </a:rPr>
                <a:t>work</a:t>
              </a:r>
              <a:endParaRPr lang="ko-KR" altLang="en-US" sz="54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atin typeface="창원단감아삭 Bold" panose="020B0803000000000000" pitchFamily="50" charset="-127"/>
                <a:ea typeface="창원단감아삭 Bold" panose="020B0803000000000000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786F917-45E5-4639-A5D1-BF9CD97D9B73}"/>
                </a:ext>
              </a:extLst>
            </p:cNvPr>
            <p:cNvSpPr txBox="1"/>
            <p:nvPr/>
          </p:nvSpPr>
          <p:spPr>
            <a:xfrm>
              <a:off x="8631306" y="2594081"/>
              <a:ext cx="2520000" cy="2520000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ffectLst>
              <a:outerShdw blurRad="381000" dist="381000" dir="2700000" algn="tl" rotWithShape="0">
                <a:prstClr val="black">
                  <a:alpha val="15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20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실습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BA52396-94C2-4A0F-90BC-765D6F08D06B}"/>
              </a:ext>
            </a:extLst>
          </p:cNvPr>
          <p:cNvSpPr txBox="1"/>
          <p:nvPr/>
        </p:nvSpPr>
        <p:spPr>
          <a:xfrm>
            <a:off x="3522205" y="3642416"/>
            <a:ext cx="1068136" cy="978914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+</a:t>
            </a:r>
            <a:endParaRPr lang="ko-KR" altLang="en-US" sz="800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CE9D20-0BF0-4A8F-AF28-0CB224402A1C}"/>
              </a:ext>
            </a:extLst>
          </p:cNvPr>
          <p:cNvSpPr txBox="1"/>
          <p:nvPr/>
        </p:nvSpPr>
        <p:spPr>
          <a:xfrm>
            <a:off x="7547863" y="3642416"/>
            <a:ext cx="1068136" cy="978914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+</a:t>
            </a:r>
            <a:endParaRPr lang="ko-KR" altLang="en-US" sz="800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7035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1207204-7B48-49B7-BDF1-BBF7961CA25B}"/>
              </a:ext>
            </a:extLst>
          </p:cNvPr>
          <p:cNvGrpSpPr/>
          <p:nvPr/>
        </p:nvGrpSpPr>
        <p:grpSpPr>
          <a:xfrm>
            <a:off x="5293494" y="2873714"/>
            <a:ext cx="1605012" cy="1537292"/>
            <a:chOff x="5115627" y="2760388"/>
            <a:chExt cx="1605012" cy="153729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062E46-7165-4AB1-BB50-EB5E0484CB6A}"/>
                </a:ext>
              </a:extLst>
            </p:cNvPr>
            <p:cNvSpPr txBox="1"/>
            <p:nvPr/>
          </p:nvSpPr>
          <p:spPr>
            <a:xfrm>
              <a:off x="5115627" y="2760388"/>
              <a:ext cx="802506" cy="66861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50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66FF"/>
                  </a:solidFill>
                  <a:latin typeface="창원단감아삭 Bold" panose="020B0803000000000000" pitchFamily="50" charset="-127"/>
                  <a:ea typeface="창원단감아삭 Bold" panose="020B0803000000000000" pitchFamily="50" charset="-127"/>
                </a:rPr>
                <a:t>S</a:t>
              </a:r>
              <a:endParaRPr lang="ko-KR" altLang="en-US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93571A-AD82-490E-B083-356B12AD8A2D}"/>
                </a:ext>
              </a:extLst>
            </p:cNvPr>
            <p:cNvSpPr txBox="1"/>
            <p:nvPr/>
          </p:nvSpPr>
          <p:spPr>
            <a:xfrm>
              <a:off x="5918133" y="2760388"/>
              <a:ext cx="802506" cy="66861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50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66FF"/>
                  </a:solidFill>
                  <a:latin typeface="창원단감아삭 Bold" panose="020B0803000000000000" pitchFamily="50" charset="-127"/>
                  <a:ea typeface="창원단감아삭 Bold" panose="020B0803000000000000" pitchFamily="50" charset="-127"/>
                </a:rPr>
                <a:t>W</a:t>
              </a:r>
              <a:endParaRPr lang="ko-KR" altLang="en-US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C72BA72-7530-454A-924B-3CDD037B8162}"/>
                </a:ext>
              </a:extLst>
            </p:cNvPr>
            <p:cNvSpPr txBox="1"/>
            <p:nvPr/>
          </p:nvSpPr>
          <p:spPr>
            <a:xfrm>
              <a:off x="5115627" y="3629068"/>
              <a:ext cx="802506" cy="66861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50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66FF"/>
                  </a:solidFill>
                  <a:latin typeface="창원단감아삭 Bold" panose="020B0803000000000000" pitchFamily="50" charset="-127"/>
                  <a:ea typeface="창원단감아삭 Bold" panose="020B0803000000000000" pitchFamily="50" charset="-127"/>
                </a:rPr>
                <a:t>O</a:t>
              </a:r>
              <a:endParaRPr lang="ko-KR" altLang="en-US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6BB4E11-E5C6-4B77-84DE-351DC81D844C}"/>
                </a:ext>
              </a:extLst>
            </p:cNvPr>
            <p:cNvSpPr txBox="1"/>
            <p:nvPr/>
          </p:nvSpPr>
          <p:spPr>
            <a:xfrm>
              <a:off x="5918133" y="3629068"/>
              <a:ext cx="802506" cy="66861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50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66FF"/>
                  </a:solidFill>
                  <a:latin typeface="창원단감아삭 Bold" panose="020B0803000000000000" pitchFamily="50" charset="-127"/>
                  <a:ea typeface="창원단감아삭 Bold" panose="020B0803000000000000" pitchFamily="50" charset="-127"/>
                </a:rPr>
                <a:t>T</a:t>
              </a:r>
              <a:endParaRPr lang="ko-KR" altLang="en-US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</a:endParaRPr>
            </a:p>
          </p:txBody>
        </p: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D19AF6B-82F2-4764-94FB-0ADA30DAE498}"/>
              </a:ext>
            </a:extLst>
          </p:cNvPr>
          <p:cNvCxnSpPr>
            <a:cxnSpLocks/>
          </p:cNvCxnSpPr>
          <p:nvPr/>
        </p:nvCxnSpPr>
        <p:spPr>
          <a:xfrm>
            <a:off x="0" y="3649006"/>
            <a:ext cx="12192000" cy="0"/>
          </a:xfrm>
          <a:prstGeom prst="line">
            <a:avLst/>
          </a:prstGeom>
          <a:ln w="25400">
            <a:solidFill>
              <a:srgbClr val="33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EBFF117-6A9A-42DE-B68B-F30927F34BE0}"/>
              </a:ext>
            </a:extLst>
          </p:cNvPr>
          <p:cNvCxnSpPr/>
          <p:nvPr/>
        </p:nvCxnSpPr>
        <p:spPr>
          <a:xfrm>
            <a:off x="6096000" y="441325"/>
            <a:ext cx="0" cy="6416675"/>
          </a:xfrm>
          <a:prstGeom prst="line">
            <a:avLst/>
          </a:prstGeom>
          <a:ln w="25400">
            <a:solidFill>
              <a:srgbClr val="33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FF6687F-F095-4E7A-A6D2-5CACB7C9A466}"/>
              </a:ext>
            </a:extLst>
          </p:cNvPr>
          <p:cNvSpPr txBox="1"/>
          <p:nvPr/>
        </p:nvSpPr>
        <p:spPr>
          <a:xfrm>
            <a:off x="925510" y="1295400"/>
            <a:ext cx="4178926" cy="134212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행동으로 진심을 보여 줘야 한다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</a:p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친절은 마인드의 문제가 아니라 몸의 문제다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서른이 넘은 인간의 말은 믿지 않는다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말을 많이 한 날에는 책을 더 열심히 읽는다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6EF5D9-7D33-4343-B753-CE85570786CF}"/>
              </a:ext>
            </a:extLst>
          </p:cNvPr>
          <p:cNvSpPr txBox="1"/>
          <p:nvPr/>
        </p:nvSpPr>
        <p:spPr>
          <a:xfrm>
            <a:off x="7087565" y="1295400"/>
            <a:ext cx="4178926" cy="134212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행동으로 진심을 보여 줘야 한다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</a:p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친절은 마인드의 문제가 아니라 몸의 문제다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서른이 넘은 인간의 말은 믿지 않는다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말을 많이 한 날에는 책을 더 열심히 읽는다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1F5A9A-D1B9-41A9-BF0B-F4D9A661D981}"/>
              </a:ext>
            </a:extLst>
          </p:cNvPr>
          <p:cNvSpPr txBox="1"/>
          <p:nvPr/>
        </p:nvSpPr>
        <p:spPr>
          <a:xfrm>
            <a:off x="925510" y="4398852"/>
            <a:ext cx="4178926" cy="134212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행동으로 진심을 보여 줘야 한다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</a:p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친절은 마인드의 문제가 아니라 몸의 문제다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서른이 넘은 인간의 말은 믿지 않는다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말을 많이 한 날에는 책을 더 열심히 읽는다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B60F6D-448B-43E2-A2EE-08C426CC1571}"/>
              </a:ext>
            </a:extLst>
          </p:cNvPr>
          <p:cNvSpPr txBox="1"/>
          <p:nvPr/>
        </p:nvSpPr>
        <p:spPr>
          <a:xfrm>
            <a:off x="7087565" y="4398852"/>
            <a:ext cx="4178926" cy="134212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행동으로 진심을 보여 줘야 한다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</a:p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친절은 마인드의 문제가 아니라 몸의 문제다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서른이 넘은 인간의 말은 믿지 않는다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 marL="173038" indent="-173038">
              <a:lnSpc>
                <a:spcPct val="12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ü"/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말을 많이 한 날에는 책을 더 열심히 읽는다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1906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F6E861-75BB-4634-9972-E19118CC4ECF}"/>
              </a:ext>
            </a:extLst>
          </p:cNvPr>
          <p:cNvSpPr txBox="1"/>
          <p:nvPr/>
        </p:nvSpPr>
        <p:spPr>
          <a:xfrm>
            <a:off x="374789" y="850673"/>
            <a:ext cx="4321175" cy="5797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색에서 중요한 것은 관계다</a:t>
            </a:r>
            <a:r>
              <a:rPr lang="en-US" altLang="ko-KR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. </a:t>
            </a:r>
            <a:endParaRPr lang="en-US" altLang="ko-KR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946A91-D077-4170-A202-2617FD4DBC10}"/>
              </a:ext>
            </a:extLst>
          </p:cNvPr>
          <p:cNvSpPr txBox="1"/>
          <p:nvPr/>
        </p:nvSpPr>
        <p:spPr>
          <a:xfrm>
            <a:off x="398400" y="2358050"/>
            <a:ext cx="8456233" cy="1024737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색에서 중요한 것은 관계다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색은 항상 다른 색과의 관계를 통해 드러나고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어떤 색과 어울리는가에 따라 같은 색이라도</a:t>
            </a:r>
            <a:b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</a:b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전혀 다른 인상을 가지게 된다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따라서 빨간색이 좋은지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노란색이 좋은지를 논의한다는 것은 별로 의미가 없다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좋아 보이는 것들의 비밀 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Good Design, p207)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0FC71B-8042-4E25-9AB5-DC3C907BDFFE}"/>
              </a:ext>
            </a:extLst>
          </p:cNvPr>
          <p:cNvSpPr txBox="1"/>
          <p:nvPr/>
        </p:nvSpPr>
        <p:spPr>
          <a:xfrm>
            <a:off x="398400" y="4712473"/>
            <a:ext cx="8836657" cy="1035774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파란색으로 통일된 디자인은 전체적으로 색 이미지가 강하다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그래서 자칫하면 색감이 단조로워질 위험이 있다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그럴 때 각각의 파란색들을 명도차이나 채도 차이가 많이 나게 배색하면 통일된 가운데에서도 풍성한 느낌이 난다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좋아 보이는 것들의 비밀 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Good Design, p217)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8BA3F8-BD88-4BD5-BD9A-8A61558B9F55}"/>
              </a:ext>
            </a:extLst>
          </p:cNvPr>
          <p:cNvSpPr txBox="1"/>
          <p:nvPr/>
        </p:nvSpPr>
        <p:spPr>
          <a:xfrm>
            <a:off x="398400" y="3680426"/>
            <a:ext cx="8595129" cy="734408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인접색만으로 색이 조화되면 대비감은 약하지만 안정감이 생긴다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좋아 보이는 것들의 비밀 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Good Design, p211)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4C40FC-8079-42BF-8950-33D9D94F8C40}"/>
              </a:ext>
            </a:extLst>
          </p:cNvPr>
          <p:cNvSpPr txBox="1"/>
          <p:nvPr/>
        </p:nvSpPr>
        <p:spPr>
          <a:xfrm>
            <a:off x="8360303" y="761816"/>
            <a:ext cx="3352272" cy="66861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3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Relationship</a:t>
            </a:r>
            <a:endParaRPr lang="ko-KR" altLang="en-US" sz="3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366FF"/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1866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813DA8-5978-41B8-92C5-8648D224A092}"/>
              </a:ext>
            </a:extLst>
          </p:cNvPr>
          <p:cNvSpPr txBox="1"/>
          <p:nvPr/>
        </p:nvSpPr>
        <p:spPr>
          <a:xfrm>
            <a:off x="1744211" y="1651502"/>
            <a:ext cx="8703578" cy="27284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“</a:t>
            </a: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파란색으로 통일된 디자인은</a:t>
            </a:r>
            <a:r>
              <a:rPr lang="en-US" altLang="ko-KR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 </a:t>
            </a: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전체적으로</a:t>
            </a:r>
            <a:endParaRPr lang="en-US" altLang="ko-KR" sz="3000" spc="-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색 이미지가 강하다</a:t>
            </a:r>
            <a:r>
              <a:rPr lang="en-US" altLang="ko-KR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. </a:t>
            </a: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그래서 자칫하면</a:t>
            </a:r>
            <a:endParaRPr lang="en-US" altLang="ko-KR" sz="3000" spc="-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색감이 단조로워질 위험이 있다</a:t>
            </a:r>
            <a:r>
              <a:rPr lang="en-US" altLang="ko-KR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. </a:t>
            </a: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그럴 때 각각의</a:t>
            </a:r>
            <a:endParaRPr lang="en-US" altLang="ko-KR" sz="3000" spc="-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파란색들을 명도차이나 채도 차이가 많이 나게 배색하면 </a:t>
            </a:r>
            <a:endParaRPr lang="en-US" altLang="ko-KR" sz="3000" spc="-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통일된 가운데에서도 풍성한 느낌이 난다</a:t>
            </a:r>
            <a:r>
              <a:rPr lang="en-US" altLang="ko-KR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.”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1F353-05F7-4FFB-A07D-1CDF6EC63405}"/>
              </a:ext>
            </a:extLst>
          </p:cNvPr>
          <p:cNvSpPr txBox="1"/>
          <p:nvPr/>
        </p:nvSpPr>
        <p:spPr>
          <a:xfrm>
            <a:off x="3561049" y="4860709"/>
            <a:ext cx="5069903" cy="4383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0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Bold" panose="00000800000000000000" pitchFamily="2" charset="-127"/>
              </a:rPr>
              <a:t>좋아 보이는 것들의 비밀 </a:t>
            </a:r>
            <a:r>
              <a:rPr lang="en-US" altLang="ko-KR" sz="20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Bold" panose="00000800000000000000" pitchFamily="2" charset="-127"/>
              </a:rPr>
              <a:t>Good Design, p217)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7D1733-5831-4297-8701-125547CB9DDB}"/>
              </a:ext>
            </a:extLst>
          </p:cNvPr>
          <p:cNvSpPr txBox="1"/>
          <p:nvPr/>
        </p:nvSpPr>
        <p:spPr>
          <a:xfrm>
            <a:off x="721246" y="676967"/>
            <a:ext cx="1019056" cy="97453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15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C43BE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/</a:t>
            </a:r>
            <a:endParaRPr lang="ko-KR" altLang="en-US" sz="15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0" dist="381000" dir="2700000" algn="tl" rotWithShape="0">
                  <a:prstClr val="black">
                    <a:alpha val="20000"/>
                  </a:prstClr>
                </a:outerShdw>
              </a:effectLst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053885-A1A2-45A4-8267-7C6182E5060B}"/>
              </a:ext>
            </a:extLst>
          </p:cNvPr>
          <p:cNvSpPr txBox="1"/>
          <p:nvPr/>
        </p:nvSpPr>
        <p:spPr>
          <a:xfrm>
            <a:off x="10129773" y="5125377"/>
            <a:ext cx="1019056" cy="97453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15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C43BE"/>
                </a:solidFill>
                <a:effectLst>
                  <a:outerShdw blurRad="381000" dist="381000" dir="2700000" algn="tl" rotWithShape="0">
                    <a:prstClr val="black">
                      <a:alpha val="20000"/>
                    </a:prstClr>
                  </a:outerShdw>
                </a:effectLst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/</a:t>
            </a:r>
            <a:endParaRPr lang="ko-KR" altLang="en-US" sz="15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0" dist="381000" dir="2700000" algn="tl" rotWithShape="0">
                  <a:prstClr val="black">
                    <a:alpha val="20000"/>
                  </a:prstClr>
                </a:outerShdw>
              </a:effectLst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990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485CFF-A122-4CBC-9A43-BFDA8C54E1FE}"/>
              </a:ext>
            </a:extLst>
          </p:cNvPr>
          <p:cNvSpPr/>
          <p:nvPr/>
        </p:nvSpPr>
        <p:spPr>
          <a:xfrm rot="18900000">
            <a:off x="2970901" y="1147039"/>
            <a:ext cx="5047484" cy="6414125"/>
          </a:xfrm>
          <a:prstGeom prst="rect">
            <a:avLst/>
          </a:prstGeom>
          <a:solidFill>
            <a:srgbClr val="204B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5CAC91-C18B-462D-A637-99DF5AD8DD2B}"/>
              </a:ext>
            </a:extLst>
          </p:cNvPr>
          <p:cNvSpPr/>
          <p:nvPr/>
        </p:nvSpPr>
        <p:spPr>
          <a:xfrm rot="18900000">
            <a:off x="7699129" y="3909706"/>
            <a:ext cx="5026803" cy="4474620"/>
          </a:xfrm>
          <a:prstGeom prst="rect">
            <a:avLst/>
          </a:prstGeom>
          <a:solidFill>
            <a:srgbClr val="1C4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7CB6238-52FA-4944-BDEB-C2847BE8BED2}"/>
              </a:ext>
            </a:extLst>
          </p:cNvPr>
          <p:cNvSpPr/>
          <p:nvPr/>
        </p:nvSpPr>
        <p:spPr>
          <a:xfrm>
            <a:off x="6096000" y="2025570"/>
            <a:ext cx="5023412" cy="5023412"/>
          </a:xfrm>
          <a:prstGeom prst="ellipse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</a:schemeClr>
              </a:gs>
              <a:gs pos="100000">
                <a:srgbClr val="3366FF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81000" dist="381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2FB556-FCF8-4E5B-9EA5-54DA03EFF8B4}"/>
              </a:ext>
            </a:extLst>
          </p:cNvPr>
          <p:cNvSpPr txBox="1"/>
          <p:nvPr/>
        </p:nvSpPr>
        <p:spPr>
          <a:xfrm>
            <a:off x="7041555" y="3163439"/>
            <a:ext cx="2600155" cy="101502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  <a:cs typeface="KoPubWorld돋움체 Light" panose="00000300000000000000" pitchFamily="2" charset="-127"/>
              </a:rPr>
              <a:t>-r-</a:t>
            </a:r>
            <a:endParaRPr lang="ko-KR" altLang="en-US" sz="1000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366FF"/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  <a:cs typeface="KoPubWorld돋움체 Light" panose="00000300000000000000" pitchFamily="2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461CB29-5710-43A6-972A-6C8E0E587AC3}"/>
              </a:ext>
            </a:extLst>
          </p:cNvPr>
          <p:cNvSpPr/>
          <p:nvPr/>
        </p:nvSpPr>
        <p:spPr>
          <a:xfrm>
            <a:off x="758288" y="-383252"/>
            <a:ext cx="5023412" cy="5023412"/>
          </a:xfrm>
          <a:prstGeom prst="ellipse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</a:schemeClr>
              </a:gs>
              <a:gs pos="100000">
                <a:srgbClr val="3366FF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81000" dist="381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475971-1413-4FBA-9181-14609361B7F6}"/>
              </a:ext>
            </a:extLst>
          </p:cNvPr>
          <p:cNvSpPr txBox="1"/>
          <p:nvPr/>
        </p:nvSpPr>
        <p:spPr>
          <a:xfrm>
            <a:off x="1703843" y="754617"/>
            <a:ext cx="2600155" cy="101502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66FF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  <a:cs typeface="KoPubWorld돋움체 Light" panose="00000300000000000000" pitchFamily="2" charset="-127"/>
              </a:rPr>
              <a:t>olo</a:t>
            </a:r>
            <a:endParaRPr lang="ko-KR" altLang="en-US" sz="1000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366FF"/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  <a:cs typeface="KoPubWorld돋움체 Light" panose="000003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41BF3A-9C7D-47E9-865D-6E0D36FA402F}"/>
              </a:ext>
            </a:extLst>
          </p:cNvPr>
          <p:cNvSpPr txBox="1"/>
          <p:nvPr/>
        </p:nvSpPr>
        <p:spPr>
          <a:xfrm>
            <a:off x="7237611" y="442951"/>
            <a:ext cx="4474964" cy="78732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4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Designtool.org</a:t>
            </a:r>
            <a:endParaRPr lang="ko-KR" altLang="en-US" sz="40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7287CD-0A3B-4210-B42F-1E8FEEEA53E5}"/>
              </a:ext>
            </a:extLst>
          </p:cNvPr>
          <p:cNvSpPr txBox="1"/>
          <p:nvPr/>
        </p:nvSpPr>
        <p:spPr>
          <a:xfrm>
            <a:off x="479425" y="5629352"/>
            <a:ext cx="4474964" cy="78732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4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charcter</a:t>
            </a:r>
            <a:endParaRPr lang="ko-KR" altLang="en-US" sz="40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4545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2571674-1606-4DA2-B375-BAC37947F91D}"/>
              </a:ext>
            </a:extLst>
          </p:cNvPr>
          <p:cNvSpPr/>
          <p:nvPr/>
        </p:nvSpPr>
        <p:spPr>
          <a:xfrm>
            <a:off x="1710559" y="5078133"/>
            <a:ext cx="2395993" cy="5938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007A0-88C8-472F-A078-7213B10BBE61}"/>
              </a:ext>
            </a:extLst>
          </p:cNvPr>
          <p:cNvSpPr txBox="1"/>
          <p:nvPr/>
        </p:nvSpPr>
        <p:spPr>
          <a:xfrm>
            <a:off x="688387" y="276037"/>
            <a:ext cx="5805912" cy="672147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3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90000"/>
                  </a:schemeClr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Design guide</a:t>
            </a:r>
            <a:endParaRPr lang="ko-KR" altLang="en-US" sz="3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90000"/>
                </a:schemeClr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7547F-4D41-468E-9C7E-C773CBAC5F96}"/>
              </a:ext>
            </a:extLst>
          </p:cNvPr>
          <p:cNvSpPr txBox="1"/>
          <p:nvPr/>
        </p:nvSpPr>
        <p:spPr>
          <a:xfrm>
            <a:off x="1642606" y="2524165"/>
            <a:ext cx="4321175" cy="5797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색에서 중요한 것은 관계다</a:t>
            </a:r>
            <a:r>
              <a:rPr lang="en-US" altLang="ko-KR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</a:rPr>
              <a:t>. </a:t>
            </a:r>
            <a:endParaRPr lang="en-US" altLang="ko-KR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7C163-7F6F-4E83-A79A-FC86367A74B4}"/>
              </a:ext>
            </a:extLst>
          </p:cNvPr>
          <p:cNvSpPr txBox="1"/>
          <p:nvPr/>
        </p:nvSpPr>
        <p:spPr>
          <a:xfrm>
            <a:off x="1642606" y="3348350"/>
            <a:ext cx="5891255" cy="752421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색에서 중요한 것은 관계다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색은 항상 다른 색과의 관계를 통해 드러난다</a:t>
            </a:r>
            <a:endParaRPr lang="en-US" altLang="ko-KR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좋아 보이는 것들의 비밀 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Good Design, p207)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CCE3A-F5A6-46AF-87CE-D3EC463337C8}"/>
              </a:ext>
            </a:extLst>
          </p:cNvPr>
          <p:cNvSpPr txBox="1"/>
          <p:nvPr/>
        </p:nvSpPr>
        <p:spPr>
          <a:xfrm>
            <a:off x="1661338" y="1700354"/>
            <a:ext cx="4321175" cy="5797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30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창원단감아삭 Bold" panose="020B0803000000000000" pitchFamily="50" charset="-127"/>
                <a:ea typeface="창원단감아삭 Bold" panose="020B0803000000000000" pitchFamily="50" charset="-127"/>
              </a:rPr>
              <a:t>독특한 폰트 디자인</a:t>
            </a:r>
            <a:endParaRPr lang="en-US" altLang="ko-KR" sz="3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창원단감아삭 Bold" panose="020B0803000000000000" pitchFamily="50" charset="-127"/>
              <a:ea typeface="창원단감아삭 Bold" panose="020B0803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C74D29-F816-47A6-8047-DA379DB7C4AE}"/>
              </a:ext>
            </a:extLst>
          </p:cNvPr>
          <p:cNvSpPr txBox="1"/>
          <p:nvPr/>
        </p:nvSpPr>
        <p:spPr>
          <a:xfrm>
            <a:off x="728143" y="1700354"/>
            <a:ext cx="582497" cy="320681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font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A285A0-12F7-4F95-804F-852E2D88AA70}"/>
              </a:ext>
            </a:extLst>
          </p:cNvPr>
          <p:cNvSpPr txBox="1"/>
          <p:nvPr/>
        </p:nvSpPr>
        <p:spPr>
          <a:xfrm>
            <a:off x="746875" y="4917792"/>
            <a:ext cx="582497" cy="320681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color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23945B-23D5-4C2C-86A1-549311CEB6C2}"/>
              </a:ext>
            </a:extLst>
          </p:cNvPr>
          <p:cNvSpPr txBox="1"/>
          <p:nvPr/>
        </p:nvSpPr>
        <p:spPr>
          <a:xfrm>
            <a:off x="5292853" y="1829890"/>
            <a:ext cx="2015057" cy="320681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창원단감아삭 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Bold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838097-0968-4997-910A-D0FACCC4887F}"/>
              </a:ext>
            </a:extLst>
          </p:cNvPr>
          <p:cNvSpPr txBox="1"/>
          <p:nvPr/>
        </p:nvSpPr>
        <p:spPr>
          <a:xfrm>
            <a:off x="6386159" y="2630367"/>
            <a:ext cx="2015057" cy="320681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Noto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Sans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KR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Black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C231CC-C63A-4F4A-93A2-D9FB9EC01738}"/>
              </a:ext>
            </a:extLst>
          </p:cNvPr>
          <p:cNvSpPr txBox="1"/>
          <p:nvPr/>
        </p:nvSpPr>
        <p:spPr>
          <a:xfrm>
            <a:off x="8040757" y="3340278"/>
            <a:ext cx="1806335" cy="320681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KoPubWorld </a:t>
            </a:r>
            <a:r>
              <a:rPr lang="ko-KR" altLang="en-US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돋움체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37F953-26BA-4BE4-974D-6FE59A776DE0}"/>
              </a:ext>
            </a:extLst>
          </p:cNvPr>
          <p:cNvSpPr/>
          <p:nvPr/>
        </p:nvSpPr>
        <p:spPr>
          <a:xfrm>
            <a:off x="5963781" y="5078133"/>
            <a:ext cx="2395993" cy="593800"/>
          </a:xfrm>
          <a:prstGeom prst="rect">
            <a:avLst/>
          </a:prstGeom>
          <a:solidFill>
            <a:srgbClr val="1C4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782F87-F377-4E20-A4F2-998FB2581121}"/>
              </a:ext>
            </a:extLst>
          </p:cNvPr>
          <p:cNvSpPr txBox="1"/>
          <p:nvPr/>
        </p:nvSpPr>
        <p:spPr>
          <a:xfrm>
            <a:off x="4156247" y="5064282"/>
            <a:ext cx="2015057" cy="320681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#3366FF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9D85EB-2790-423D-8F30-ABBB606B9462}"/>
              </a:ext>
            </a:extLst>
          </p:cNvPr>
          <p:cNvSpPr txBox="1"/>
          <p:nvPr/>
        </p:nvSpPr>
        <p:spPr>
          <a:xfrm>
            <a:off x="8409469" y="5064282"/>
            <a:ext cx="2015057" cy="320681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#1C43BE</a:t>
            </a:r>
            <a:endParaRPr lang="ko-KR" altLang="en-US" sz="16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98CB582-DBBF-4CA8-8C8A-D2C7C53EF493}"/>
              </a:ext>
            </a:extLst>
          </p:cNvPr>
          <p:cNvCxnSpPr/>
          <p:nvPr/>
        </p:nvCxnSpPr>
        <p:spPr>
          <a:xfrm>
            <a:off x="1710559" y="2375452"/>
            <a:ext cx="916285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B8DF8D7-F5A6-43B1-BF81-E464510F2102}"/>
              </a:ext>
            </a:extLst>
          </p:cNvPr>
          <p:cNvCxnSpPr/>
          <p:nvPr/>
        </p:nvCxnSpPr>
        <p:spPr>
          <a:xfrm>
            <a:off x="1710559" y="3220278"/>
            <a:ext cx="916285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902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389</Words>
  <Application>Microsoft Office PowerPoint</Application>
  <PresentationFormat>와이드스크린</PresentationFormat>
  <Paragraphs>82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KoPubWorld돋움체 Bold</vt:lpstr>
      <vt:lpstr>KoPubWorld돋움체 Light</vt:lpstr>
      <vt:lpstr>KoPub돋움체 Light</vt:lpstr>
      <vt:lpstr>Noto Sans KR Black</vt:lpstr>
      <vt:lpstr>맑은 고딕</vt:lpstr>
      <vt:lpstr>창원단감아삭 Bold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 용</dc:creator>
  <cp:lastModifiedBy>라 용</cp:lastModifiedBy>
  <cp:revision>34</cp:revision>
  <dcterms:created xsi:type="dcterms:W3CDTF">2021-09-01T08:44:20Z</dcterms:created>
  <dcterms:modified xsi:type="dcterms:W3CDTF">2021-09-08T11:04:20Z</dcterms:modified>
</cp:coreProperties>
</file>